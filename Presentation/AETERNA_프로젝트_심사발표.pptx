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7" r:id="rId4"/>
    <p:sldId id="258" r:id="rId5"/>
    <p:sldId id="259" r:id="rId6"/>
    <p:sldId id="260" r:id="rId7"/>
    <p:sldId id="262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C78D"/>
    <a:srgbClr val="5E3423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9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C:\Users\godli\Downloads\FINAL-PRESENTATION_v2.pdf (project title, concept, team members)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31DFC-8D25-1460-1F90-CCCCAA78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B9EE7C-F0BC-8255-F07F-23705D958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3123A-321F-D3F7-C0B4-9675AF91D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C:\Users\godli\Downloads\FINAL-PRESENTATION_v2.pdf (project title, concept, team members)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F3233-13F7-26A5-D863-99924CB2AE9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2188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C:\Users\godli\Downloads\FINAL-PRESENTATION_v2.pdf (game sequence, notebook, time and battery systems)</a:t>
            </a:r>
          </a:p>
          <a:p>
            <a:r>
              <a:t>C:\Users\godli\OneDrive\Documents\카카오톡 받은 파일\첨부.  2026 AI에이전트 기반 언리얼 개발 워크프로세스 자동화 완성 과정 프로젝트 심사 및 컨설팅 계획_ 공유용.pdf (planning evaluation criteria)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C:\Users\godli\Downloads\FINAL-PRESENTATION_v2.pdf (Rider, CLAUDE.md, ComfyUI, Flow AI, GitHub, build validation)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C:\Users\godli\Downloads\FINAL-PRESENTATION_v2.pdf (notebook, time, interaction, battery and rule violation systems)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C:\Users\godli\Downloads\FINAL-PRESENTATION_v2.pdf (team roles and collaboration tools)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C:\Users\godli\Downloads\FINAL-PRESENTATION_v2.pdf (business aspirations and packaging goal)</a:t>
            </a:r>
          </a:p>
          <a:p>
            <a:r>
              <a:t>C:\Users\godli\OneDrive\Documents\카카오톡 받은 파일\첨부.  2026 AI에이전트 기반 언리얼 개발 워크프로세스 자동화 완성 과정 프로젝트 심사 및 컨설팅 계획_ 공유용.pdf (market value and business-model evaluation criteria)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9CC27-609E-7CD2-AE25-546D8FED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28C4B-C2B5-3E3E-C672-9658ED060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AF681-704B-3EBF-E5B9-EDC97F82A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C:\Users\godli\Downloads\FINAL-PRESENTATION_v2.pdf (project title, concept, team members)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AB7AC-F70D-C34B-DB6F-2CFC2D72E44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5647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C9195575-923C-0883-6C93-C8762AAEB3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78" y="9763"/>
            <a:ext cx="12185522" cy="6858000"/>
          </a:xfrm>
          <a:prstGeom prst="rect">
            <a:avLst/>
          </a:prstGeom>
        </p:spPr>
      </p:pic>
      <p:sp>
        <p:nvSpPr>
          <p:cNvPr id="3" name="cover-course">
            <a:extLst>
              <a:ext uri="{FF2B5EF4-FFF2-40B4-BE49-F238E27FC236}">
                <a16:creationId xmlns:a16="http://schemas.microsoft.com/office/drawing/2014/main" id="{4962C2BA-85FD-4EF9-97F3-ACA23E84CCEA}"/>
              </a:ext>
            </a:extLst>
          </p:cNvPr>
          <p:cNvSpPr>
            <a:spLocks noGrp="1"/>
          </p:cNvSpPr>
          <p:nvPr/>
        </p:nvSpPr>
        <p:spPr>
          <a:xfrm>
            <a:off x="479489" y="323850"/>
            <a:ext cx="561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2026 AI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에이전트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언리얼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개발</a:t>
            </a:r>
            <a:endParaRPr sz="1350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350" b="1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워크프로세스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자동화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완성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과정</a:t>
            </a:r>
            <a:endParaRPr sz="1350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EBF46B17-0335-438C-800E-3ABBC6880B5A}"/>
              </a:ext>
            </a:extLst>
          </p:cNvPr>
          <p:cNvSpPr>
            <a:spLocks noGrp="1"/>
          </p:cNvSpPr>
          <p:nvPr/>
        </p:nvSpPr>
        <p:spPr>
          <a:xfrm>
            <a:off x="3194050" y="4567475"/>
            <a:ext cx="6375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AI </a:t>
            </a:r>
            <a:r>
              <a:rPr sz="17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에이전트</a:t>
            </a:r>
            <a:r>
              <a:rPr sz="17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17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개발</a:t>
            </a:r>
            <a:r>
              <a:rPr sz="17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워크프로세스로</a:t>
            </a:r>
            <a:r>
              <a:rPr sz="17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제작한</a:t>
            </a:r>
            <a:r>
              <a:rPr lang="en-US" sz="1725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1인칭 </a:t>
            </a:r>
            <a:r>
              <a:rPr sz="17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미스터리</a:t>
            </a:r>
            <a:r>
              <a:rPr sz="17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725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게임</a:t>
            </a:r>
            <a:endParaRPr sz="1725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cover-team">
            <a:extLst>
              <a:ext uri="{FF2B5EF4-FFF2-40B4-BE49-F238E27FC236}">
                <a16:creationId xmlns:a16="http://schemas.microsoft.com/office/drawing/2014/main" id="{0DF9A562-591C-4E8D-95CF-AA60161A735B}"/>
              </a:ext>
            </a:extLst>
          </p:cNvPr>
          <p:cNvSpPr>
            <a:spLocks noGrp="1"/>
          </p:cNvSpPr>
          <p:nvPr/>
        </p:nvSpPr>
        <p:spPr>
          <a:xfrm>
            <a:off x="8980320" y="6531825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350" b="0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35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박살팀</a:t>
            </a:r>
            <a:r>
              <a:rPr lang="ko-KR" altLang="en-US" sz="135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35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135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임</a:t>
            </a: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찬진</a:t>
            </a:r>
            <a:r>
              <a:rPr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김정준</a:t>
            </a:r>
            <a:r>
              <a:rPr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변설화</a:t>
            </a:r>
            <a:r>
              <a:rPr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박지수</a:t>
            </a:r>
            <a:r>
              <a:rPr lang="en-US"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)</a:t>
            </a:r>
            <a:endParaRPr sz="1350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B89C198-976C-A522-AE11-E5862DA417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66" y="1732723"/>
            <a:ext cx="7513868" cy="27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60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F9A86-9AD0-6A26-F7CB-A76C64B3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10545EB-433B-C380-4F9F-F5F57C7BE9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11" name="cover-hero-field">
            <a:extLst>
              <a:ext uri="{FF2B5EF4-FFF2-40B4-BE49-F238E27FC236}">
                <a16:creationId xmlns:a16="http://schemas.microsoft.com/office/drawing/2014/main" id="{04E3ED24-6D4E-7BC6-0723-CA7072706B48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18202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cover-accent">
            <a:extLst>
              <a:ext uri="{FF2B5EF4-FFF2-40B4-BE49-F238E27FC236}">
                <a16:creationId xmlns:a16="http://schemas.microsoft.com/office/drawing/2014/main" id="{BF980842-D005-C309-9004-8FE0625B0910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71450" cy="6858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cover-korean-title">
            <a:extLst>
              <a:ext uri="{FF2B5EF4-FFF2-40B4-BE49-F238E27FC236}">
                <a16:creationId xmlns:a16="http://schemas.microsoft.com/office/drawing/2014/main" id="{3029B268-B93B-9CBF-1D3D-315323638F12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5810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규칙을</a:t>
            </a:r>
            <a:r>
              <a:rPr sz="31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1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지키며</a:t>
            </a:r>
            <a:r>
              <a:rPr sz="31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1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살아남는</a:t>
            </a:r>
            <a:endParaRPr sz="3150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315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박물관</a:t>
            </a:r>
            <a:r>
              <a:rPr sz="31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1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야간</a:t>
            </a:r>
            <a:r>
              <a:rPr sz="31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1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근무</a:t>
            </a:r>
            <a:endParaRPr sz="3150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cover-hero-number">
            <a:extLst>
              <a:ext uri="{FF2B5EF4-FFF2-40B4-BE49-F238E27FC236}">
                <a16:creationId xmlns:a16="http://schemas.microsoft.com/office/drawing/2014/main" id="{117EC768-659C-0648-BAAE-E571FC834DC0}"/>
              </a:ext>
            </a:extLst>
          </p:cNvPr>
          <p:cNvSpPr>
            <a:spLocks noGrp="1"/>
          </p:cNvSpPr>
          <p:nvPr/>
        </p:nvSpPr>
        <p:spPr>
          <a:xfrm>
            <a:off x="7296150" y="72390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40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840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cover-hero-word">
            <a:extLst>
              <a:ext uri="{FF2B5EF4-FFF2-40B4-BE49-F238E27FC236}">
                <a16:creationId xmlns:a16="http://schemas.microsoft.com/office/drawing/2014/main" id="{0A68DCA2-B857-F71B-C5B1-D28BF1F2E865}"/>
              </a:ext>
            </a:extLst>
          </p:cNvPr>
          <p:cNvSpPr>
            <a:spLocks noGrp="1"/>
          </p:cNvSpPr>
          <p:nvPr/>
        </p:nvSpPr>
        <p:spPr>
          <a:xfrm>
            <a:off x="7296150" y="22860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0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RULES</a:t>
            </a:r>
          </a:p>
          <a:p>
            <a:pPr algn="l">
              <a:defRPr sz="40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AT NIGHT</a:t>
            </a:r>
          </a:p>
        </p:txBody>
      </p:sp>
      <p:sp>
        <p:nvSpPr>
          <p:cNvPr id="10" name="cover-hero-copy">
            <a:extLst>
              <a:ext uri="{FF2B5EF4-FFF2-40B4-BE49-F238E27FC236}">
                <a16:creationId xmlns:a16="http://schemas.microsoft.com/office/drawing/2014/main" id="{DD6CCFBC-4E6E-1FDA-791E-D32A8464FEC8}"/>
              </a:ext>
            </a:extLst>
          </p:cNvPr>
          <p:cNvSpPr>
            <a:spLocks noGrp="1"/>
          </p:cNvSpPr>
          <p:nvPr/>
        </p:nvSpPr>
        <p:spPr>
          <a:xfrm>
            <a:off x="7296150" y="4876800"/>
            <a:ext cx="39433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 i="0">
                <a:solidFill>
                  <a:srgbClr val="D8DEE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 dirty="0" err="1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수첩의</a:t>
            </a:r>
            <a:r>
              <a:rPr sz="1650" b="0" i="0" dirty="0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i="0" dirty="0" err="1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규칙을</a:t>
            </a:r>
            <a:r>
              <a:rPr sz="1650" b="0" i="0" dirty="0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650" dirty="0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준수</a:t>
            </a:r>
            <a:r>
              <a:rPr sz="1650" b="0" i="0" dirty="0" err="1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하고</a:t>
            </a:r>
            <a:endParaRPr sz="1650" b="0" i="0" dirty="0">
              <a:solidFill>
                <a:srgbClr val="D8DEE9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650" b="0" i="0">
                <a:solidFill>
                  <a:srgbClr val="D8DEE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 dirty="0" err="1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시간과</a:t>
            </a:r>
            <a:r>
              <a:rPr sz="1650" b="0" i="0" dirty="0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i="0" dirty="0" err="1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배터리를</a:t>
            </a:r>
            <a:r>
              <a:rPr sz="1650" b="0" i="0" dirty="0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i="0" dirty="0" err="1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관리하며</a:t>
            </a:r>
            <a:endParaRPr sz="1650" b="0" i="0" dirty="0">
              <a:solidFill>
                <a:srgbClr val="D8DEE9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650" b="0" i="0">
                <a:solidFill>
                  <a:srgbClr val="D8DEE9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50" b="0" i="0" dirty="0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주어진 미션을 해결한다</a:t>
            </a:r>
            <a:r>
              <a:rPr lang="en-US" altLang="ko-KR" sz="1650" b="0" i="0" dirty="0">
                <a:solidFill>
                  <a:srgbClr val="D8DEE9"/>
                </a:solidFill>
                <a:latin typeface="Noto Sans KR"/>
                <a:ea typeface="Noto Sans KR"/>
                <a:cs typeface="Noto Sans KR"/>
              </a:rPr>
              <a:t>.</a:t>
            </a:r>
            <a:endParaRPr sz="1650" b="0" i="0" dirty="0">
              <a:solidFill>
                <a:srgbClr val="D8DEE9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cover-course">
            <a:extLst>
              <a:ext uri="{FF2B5EF4-FFF2-40B4-BE49-F238E27FC236}">
                <a16:creationId xmlns:a16="http://schemas.microsoft.com/office/drawing/2014/main" id="{A3B60AD4-D474-22F1-53BB-0A0682C0CEB7}"/>
              </a:ext>
            </a:extLst>
          </p:cNvPr>
          <p:cNvSpPr>
            <a:spLocks noGrp="1"/>
          </p:cNvSpPr>
          <p:nvPr/>
        </p:nvSpPr>
        <p:spPr>
          <a:xfrm>
            <a:off x="479489" y="323850"/>
            <a:ext cx="561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2026 AI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에이전트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언리얼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개발</a:t>
            </a:r>
            <a:endParaRPr sz="1350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350" b="1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워크프로세스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자동화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완성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과정</a:t>
            </a:r>
            <a:endParaRPr sz="1350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70115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91CAE66E-8E32-03B4-DB59-F29016CD3F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20" name="section-2">
            <a:extLst>
              <a:ext uri="{FF2B5EF4-FFF2-40B4-BE49-F238E27FC236}">
                <a16:creationId xmlns:a16="http://schemas.microsoft.com/office/drawing/2014/main" id="{D6441379-ADCD-4224-835A-847DB75150FB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 dirty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 · PLANNING &amp; DIFFERENTIATION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955177D0-222C-4391-97A8-F38112BA3042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22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 i="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규칙을</a:t>
            </a:r>
            <a:r>
              <a:rPr sz="3225" b="1" i="0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25" b="1" i="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읽는</a:t>
            </a:r>
            <a:r>
              <a:rPr sz="3225" b="1" i="0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25" b="1" i="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순간부터</a:t>
            </a:r>
            <a:r>
              <a:rPr sz="3225" b="1" i="0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25" b="1" i="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시작</a:t>
            </a:r>
            <a:endParaRPr sz="3225" b="1" i="0" dirty="0">
              <a:solidFill>
                <a:schemeClr val="accent6">
                  <a:lumMod val="40000"/>
                  <a:lumOff val="6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-2">
            <a:extLst>
              <a:ext uri="{FF2B5EF4-FFF2-40B4-BE49-F238E27FC236}">
                <a16:creationId xmlns:a16="http://schemas.microsoft.com/office/drawing/2014/main" id="{C878F52D-D3A0-488F-940B-2AF61E637B1B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2B1D7FD1-530E-4083-870F-690528698A42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sz="1050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3</a:t>
            </a:r>
            <a:endParaRPr sz="1050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planning-thesis">
            <a:extLst>
              <a:ext uri="{FF2B5EF4-FFF2-40B4-BE49-F238E27FC236}">
                <a16:creationId xmlns:a16="http://schemas.microsoft.com/office/drawing/2014/main" id="{8707B021-51F5-43F9-9F14-D2251397DA86}"/>
              </a:ext>
            </a:extLst>
          </p:cNvPr>
          <p:cNvSpPr>
            <a:spLocks noGrp="1"/>
          </p:cNvSpPr>
          <p:nvPr/>
        </p:nvSpPr>
        <p:spPr>
          <a:xfrm>
            <a:off x="552450" y="1900240"/>
            <a:ext cx="4857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박물관</a:t>
            </a:r>
            <a:r>
              <a:rPr sz="27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야간</a:t>
            </a:r>
            <a:r>
              <a:rPr sz="27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근무</a:t>
            </a:r>
            <a:r>
              <a:rPr lang="en-US" sz="27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7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로봇 </a:t>
            </a:r>
            <a:r>
              <a:rPr lang="en-US" altLang="ko-KR" sz="27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M-05</a:t>
            </a:r>
            <a:r>
              <a:rPr sz="27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는</a:t>
            </a:r>
          </a:p>
          <a:p>
            <a:pPr algn="l">
              <a:defRPr sz="270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수첩에</a:t>
            </a:r>
            <a:r>
              <a:rPr sz="27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적힌</a:t>
            </a:r>
            <a:r>
              <a:rPr sz="27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규칙만을</a:t>
            </a:r>
            <a:r>
              <a:rPr sz="27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근거로</a:t>
            </a:r>
            <a:endParaRPr sz="2700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270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위험을</a:t>
            </a:r>
            <a:r>
              <a:rPr sz="27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판단해야</a:t>
            </a:r>
            <a:r>
              <a:rPr sz="270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7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합니다</a:t>
            </a:r>
            <a:r>
              <a:rPr lang="en-US" altLang="ko-KR" sz="27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.</a:t>
            </a:r>
            <a:endParaRPr sz="2700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planning-support">
            <a:extLst>
              <a:ext uri="{FF2B5EF4-FFF2-40B4-BE49-F238E27FC236}">
                <a16:creationId xmlns:a16="http://schemas.microsoft.com/office/drawing/2014/main" id="{577B7FF3-5071-4755-B800-05A46DBF4546}"/>
              </a:ext>
            </a:extLst>
          </p:cNvPr>
          <p:cNvSpPr>
            <a:spLocks noGrp="1"/>
          </p:cNvSpPr>
          <p:nvPr/>
        </p:nvSpPr>
        <p:spPr>
          <a:xfrm>
            <a:off x="552450" y="4462464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어둠</a:t>
            </a:r>
            <a:r>
              <a:rPr sz="16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6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제한된</a:t>
            </a:r>
            <a:r>
              <a:rPr sz="16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배터리</a:t>
            </a:r>
            <a:r>
              <a:rPr sz="16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6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특정</a:t>
            </a:r>
            <a:r>
              <a:rPr sz="16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시간대의</a:t>
            </a:r>
            <a:r>
              <a:rPr sz="16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행동</a:t>
            </a:r>
            <a:r>
              <a:rPr sz="16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제한이</a:t>
            </a:r>
            <a:endParaRPr sz="1650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650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16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긴장</a:t>
            </a:r>
            <a:r>
              <a:rPr sz="16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구조로</a:t>
            </a:r>
            <a:r>
              <a:rPr sz="16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연결</a:t>
            </a:r>
            <a:r>
              <a:rPr lang="ko-KR" altLang="en-US" sz="165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됩니다</a:t>
            </a:r>
            <a:r>
              <a:rPr sz="16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9" name="planning-num-0">
            <a:extLst>
              <a:ext uri="{FF2B5EF4-FFF2-40B4-BE49-F238E27FC236}">
                <a16:creationId xmlns:a16="http://schemas.microsoft.com/office/drawing/2014/main" id="{20739400-2F29-4A06-998A-4FA5CB9FB5B0}"/>
              </a:ext>
            </a:extLst>
          </p:cNvPr>
          <p:cNvSpPr>
            <a:spLocks noGrp="1"/>
          </p:cNvSpPr>
          <p:nvPr/>
        </p:nvSpPr>
        <p:spPr>
          <a:xfrm>
            <a:off x="6191250" y="1733550"/>
            <a:ext cx="647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planning-label-0">
            <a:extLst>
              <a:ext uri="{FF2B5EF4-FFF2-40B4-BE49-F238E27FC236}">
                <a16:creationId xmlns:a16="http://schemas.microsoft.com/office/drawing/2014/main" id="{86FBCCC7-779D-4C19-87EF-F1F400934C0F}"/>
              </a:ext>
            </a:extLst>
          </p:cNvPr>
          <p:cNvSpPr>
            <a:spLocks noGrp="1"/>
          </p:cNvSpPr>
          <p:nvPr/>
        </p:nvSpPr>
        <p:spPr>
          <a:xfrm>
            <a:off x="7029450" y="17335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875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규칙</a:t>
            </a:r>
            <a:r>
              <a:rPr sz="1875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75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1875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75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판단</a:t>
            </a:r>
            <a:endParaRPr sz="1875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planning-desc-0">
            <a:extLst>
              <a:ext uri="{FF2B5EF4-FFF2-40B4-BE49-F238E27FC236}">
                <a16:creationId xmlns:a16="http://schemas.microsoft.com/office/drawing/2014/main" id="{F3D39213-3D0F-426C-89A0-7E87782A7EF3}"/>
              </a:ext>
            </a:extLst>
          </p:cNvPr>
          <p:cNvSpPr>
            <a:spLocks noGrp="1"/>
          </p:cNvSpPr>
          <p:nvPr/>
        </p:nvSpPr>
        <p:spPr>
          <a:xfrm>
            <a:off x="7029450" y="2152650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사건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수첩이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게임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플레이의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유일한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판단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근거</a:t>
            </a:r>
            <a:endParaRPr sz="1425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planning-sep-0">
            <a:extLst>
              <a:ext uri="{FF2B5EF4-FFF2-40B4-BE49-F238E27FC236}">
                <a16:creationId xmlns:a16="http://schemas.microsoft.com/office/drawing/2014/main" id="{026B466A-E231-4A2F-8E59-320E7941A038}"/>
              </a:ext>
            </a:extLst>
          </p:cNvPr>
          <p:cNvSpPr>
            <a:spLocks noGrp="1"/>
          </p:cNvSpPr>
          <p:nvPr/>
        </p:nvSpPr>
        <p:spPr>
          <a:xfrm>
            <a:off x="6191250" y="2838450"/>
            <a:ext cx="50482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planning-num-1">
            <a:extLst>
              <a:ext uri="{FF2B5EF4-FFF2-40B4-BE49-F238E27FC236}">
                <a16:creationId xmlns:a16="http://schemas.microsoft.com/office/drawing/2014/main" id="{2A01683B-26B8-4269-9FE4-B5DE191E5129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647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planning-label-1">
            <a:extLst>
              <a:ext uri="{FF2B5EF4-FFF2-40B4-BE49-F238E27FC236}">
                <a16:creationId xmlns:a16="http://schemas.microsoft.com/office/drawing/2014/main" id="{ACE8A20E-C559-41A5-B717-1C3A2C4DC683}"/>
              </a:ext>
            </a:extLst>
          </p:cNvPr>
          <p:cNvSpPr>
            <a:spLocks noGrp="1"/>
          </p:cNvSpPr>
          <p:nvPr/>
        </p:nvSpPr>
        <p:spPr>
          <a:xfrm>
            <a:off x="7029450" y="30480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자원과</a:t>
            </a:r>
            <a:r>
              <a:rPr sz="1875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7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시간의</a:t>
            </a:r>
            <a:r>
              <a:rPr sz="1875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7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압박</a:t>
            </a:r>
            <a:endParaRPr sz="1875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planning-desc-1">
            <a:extLst>
              <a:ext uri="{FF2B5EF4-FFF2-40B4-BE49-F238E27FC236}">
                <a16:creationId xmlns:a16="http://schemas.microsoft.com/office/drawing/2014/main" id="{FB1D9067-3B44-4C81-A0C8-8BD7F3BCBBD1}"/>
              </a:ext>
            </a:extLst>
          </p:cNvPr>
          <p:cNvSpPr>
            <a:spLocks noGrp="1"/>
          </p:cNvSpPr>
          <p:nvPr/>
        </p:nvSpPr>
        <p:spPr>
          <a:xfrm>
            <a:off x="7029450" y="3467100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헤드램프·배터리·시간대가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행동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선택을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제한</a:t>
            </a:r>
            <a:endParaRPr sz="1425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planning-sep-1">
            <a:extLst>
              <a:ext uri="{FF2B5EF4-FFF2-40B4-BE49-F238E27FC236}">
                <a16:creationId xmlns:a16="http://schemas.microsoft.com/office/drawing/2014/main" id="{BDECCE91-1793-46F7-821B-B64B9493DF2C}"/>
              </a:ext>
            </a:extLst>
          </p:cNvPr>
          <p:cNvSpPr>
            <a:spLocks noGrp="1"/>
          </p:cNvSpPr>
          <p:nvPr/>
        </p:nvSpPr>
        <p:spPr>
          <a:xfrm>
            <a:off x="6191250" y="4152900"/>
            <a:ext cx="50482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planning-num-2">
            <a:extLst>
              <a:ext uri="{FF2B5EF4-FFF2-40B4-BE49-F238E27FC236}">
                <a16:creationId xmlns:a16="http://schemas.microsoft.com/office/drawing/2014/main" id="{0AB113D1-0C8E-4267-99B4-DA255CBCD632}"/>
              </a:ext>
            </a:extLst>
          </p:cNvPr>
          <p:cNvSpPr>
            <a:spLocks noGrp="1"/>
          </p:cNvSpPr>
          <p:nvPr/>
        </p:nvSpPr>
        <p:spPr>
          <a:xfrm>
            <a:off x="6191250" y="4362450"/>
            <a:ext cx="647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planning-label-2">
            <a:extLst>
              <a:ext uri="{FF2B5EF4-FFF2-40B4-BE49-F238E27FC236}">
                <a16:creationId xmlns:a16="http://schemas.microsoft.com/office/drawing/2014/main" id="{CA2BC0F7-F602-44AA-AE2E-9C5D937A0C5E}"/>
              </a:ext>
            </a:extLst>
          </p:cNvPr>
          <p:cNvSpPr>
            <a:spLocks noGrp="1"/>
          </p:cNvSpPr>
          <p:nvPr/>
        </p:nvSpPr>
        <p:spPr>
          <a:xfrm>
            <a:off x="7029450" y="43624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박물관</a:t>
            </a:r>
            <a:r>
              <a:rPr sz="1875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7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미스터리</a:t>
            </a:r>
            <a:endParaRPr sz="1875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planning-desc-2">
            <a:extLst>
              <a:ext uri="{FF2B5EF4-FFF2-40B4-BE49-F238E27FC236}">
                <a16:creationId xmlns:a16="http://schemas.microsoft.com/office/drawing/2014/main" id="{9E5FE6D8-6804-424A-A091-C0F37C442A32}"/>
              </a:ext>
            </a:extLst>
          </p:cNvPr>
          <p:cNvSpPr>
            <a:spLocks noGrp="1"/>
          </p:cNvSpPr>
          <p:nvPr/>
        </p:nvSpPr>
        <p:spPr>
          <a:xfrm>
            <a:off x="7029450" y="4781550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야간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근무와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나폴리탄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수칙을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결합한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세계관</a:t>
            </a:r>
            <a:endParaRPr sz="1425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543091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E11F9AFE-BD76-7D0C-F8AA-961CAC3D92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34" name="section-3">
            <a:extLst>
              <a:ext uri="{FF2B5EF4-FFF2-40B4-BE49-F238E27FC236}">
                <a16:creationId xmlns:a16="http://schemas.microsoft.com/office/drawing/2014/main" id="{6482A700-4B47-453D-8DE2-286F9B7A745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02 · AI-ASSISTED WORKFLOW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48807448-508B-4736-8EB3-DF710F3E922E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22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3225" b="1" i="0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Develop </a:t>
            </a:r>
            <a:r>
              <a:rPr lang="en-US" sz="3225" b="1" i="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Work</a:t>
            </a:r>
            <a:r>
              <a:rPr lang="en-US" sz="3225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F</a:t>
            </a:r>
            <a:r>
              <a:rPr lang="en-US" sz="3225" b="1" i="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low</a:t>
            </a:r>
            <a:r>
              <a:rPr lang="en-US" sz="3225" b="1" i="0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 with AI</a:t>
            </a:r>
            <a:endParaRPr sz="3225" b="1" i="0" dirty="0">
              <a:solidFill>
                <a:schemeClr val="accent6">
                  <a:lumMod val="40000"/>
                  <a:lumOff val="6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55977AE9-A677-4EEA-B92D-404B286EC5D6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E456E33E-B93A-49FF-A5AA-887DC685F216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sz="1050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4</a:t>
            </a:r>
            <a:endParaRPr sz="1050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workflow-arrow-0">
            <a:extLst>
              <a:ext uri="{FF2B5EF4-FFF2-40B4-BE49-F238E27FC236}">
                <a16:creationId xmlns:a16="http://schemas.microsoft.com/office/drawing/2014/main" id="{F98A7850-3398-4404-B182-3104262EDC70}"/>
              </a:ext>
            </a:extLst>
          </p:cNvPr>
          <p:cNvSpPr>
            <a:spLocks noGrp="1"/>
          </p:cNvSpPr>
          <p:nvPr/>
        </p:nvSpPr>
        <p:spPr>
          <a:xfrm>
            <a:off x="2152650" y="2466975"/>
            <a:ext cx="552450" cy="266700"/>
          </a:xfrm>
          <a:prstGeom prst="rightArrow">
            <a:avLst/>
          </a:prstGeom>
          <a:solidFill>
            <a:srgbClr val="DDF3F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workflow-arrow-1">
            <a:extLst>
              <a:ext uri="{FF2B5EF4-FFF2-40B4-BE49-F238E27FC236}">
                <a16:creationId xmlns:a16="http://schemas.microsoft.com/office/drawing/2014/main" id="{B61ABCAA-764E-41B7-AF87-DF352F92DBF0}"/>
              </a:ext>
            </a:extLst>
          </p:cNvPr>
          <p:cNvSpPr>
            <a:spLocks noGrp="1"/>
          </p:cNvSpPr>
          <p:nvPr/>
        </p:nvSpPr>
        <p:spPr>
          <a:xfrm>
            <a:off x="4400550" y="2466975"/>
            <a:ext cx="552450" cy="266700"/>
          </a:xfrm>
          <a:prstGeom prst="rightArrow">
            <a:avLst/>
          </a:prstGeom>
          <a:solidFill>
            <a:srgbClr val="DDF3F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workflow-arrow-2">
            <a:extLst>
              <a:ext uri="{FF2B5EF4-FFF2-40B4-BE49-F238E27FC236}">
                <a16:creationId xmlns:a16="http://schemas.microsoft.com/office/drawing/2014/main" id="{23F8C569-3F8A-4677-B840-9872BAF1385A}"/>
              </a:ext>
            </a:extLst>
          </p:cNvPr>
          <p:cNvSpPr>
            <a:spLocks noGrp="1"/>
          </p:cNvSpPr>
          <p:nvPr/>
        </p:nvSpPr>
        <p:spPr>
          <a:xfrm>
            <a:off x="6648450" y="2466975"/>
            <a:ext cx="552450" cy="266700"/>
          </a:xfrm>
          <a:prstGeom prst="rightArrow">
            <a:avLst/>
          </a:prstGeom>
          <a:solidFill>
            <a:srgbClr val="DDF3F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workflow-arrow-3">
            <a:extLst>
              <a:ext uri="{FF2B5EF4-FFF2-40B4-BE49-F238E27FC236}">
                <a16:creationId xmlns:a16="http://schemas.microsoft.com/office/drawing/2014/main" id="{2D2A3AB5-004F-4FAE-BCD8-46374CF46E0B}"/>
              </a:ext>
            </a:extLst>
          </p:cNvPr>
          <p:cNvSpPr>
            <a:spLocks noGrp="1"/>
          </p:cNvSpPr>
          <p:nvPr/>
        </p:nvSpPr>
        <p:spPr>
          <a:xfrm>
            <a:off x="8896350" y="2466975"/>
            <a:ext cx="552450" cy="266700"/>
          </a:xfrm>
          <a:prstGeom prst="rightArrow">
            <a:avLst/>
          </a:prstGeom>
          <a:solidFill>
            <a:srgbClr val="DDF3F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workflow-node-0">
            <a:extLst>
              <a:ext uri="{FF2B5EF4-FFF2-40B4-BE49-F238E27FC236}">
                <a16:creationId xmlns:a16="http://schemas.microsoft.com/office/drawing/2014/main" id="{9D9E07E7-6B1A-48AC-AE53-9C729A8A2330}"/>
              </a:ext>
            </a:extLst>
          </p:cNvPr>
          <p:cNvSpPr>
            <a:spLocks noGrp="1"/>
          </p:cNvSpPr>
          <p:nvPr/>
        </p:nvSpPr>
        <p:spPr>
          <a:xfrm>
            <a:off x="552450" y="1847850"/>
            <a:ext cx="1600200" cy="1676400"/>
          </a:xfrm>
          <a:prstGeom prst="rect">
            <a:avLst/>
          </a:prstGeom>
          <a:solidFill>
            <a:srgbClr val="EEF0F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workflow-step-0">
            <a:extLst>
              <a:ext uri="{FF2B5EF4-FFF2-40B4-BE49-F238E27FC236}">
                <a16:creationId xmlns:a16="http://schemas.microsoft.com/office/drawing/2014/main" id="{A6AC8774-F6B8-4DC9-958A-C18CA505FFA3}"/>
              </a:ext>
            </a:extLst>
          </p:cNvPr>
          <p:cNvSpPr>
            <a:spLocks noGrp="1"/>
          </p:cNvSpPr>
          <p:nvPr/>
        </p:nvSpPr>
        <p:spPr>
          <a:xfrm>
            <a:off x="723900" y="20193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1" name="workflow-title-0">
            <a:extLst>
              <a:ext uri="{FF2B5EF4-FFF2-40B4-BE49-F238E27FC236}">
                <a16:creationId xmlns:a16="http://schemas.microsoft.com/office/drawing/2014/main" id="{99E19B0A-6B27-4108-BE37-AAB3FAA765F0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543"/>
          </a:bodyPr>
          <a:lstStyle/>
          <a:p>
            <a:pPr algn="l">
              <a:defRPr sz="165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dirty="0" err="1"/>
              <a:t>기획·규칙</a:t>
            </a:r>
            <a:r>
              <a:rPr dirty="0"/>
              <a:t> </a:t>
            </a:r>
            <a:r>
              <a:rPr dirty="0" err="1"/>
              <a:t>정의</a:t>
            </a:r>
            <a:endParaRPr dirty="0"/>
          </a:p>
        </p:txBody>
      </p:sp>
      <p:sp>
        <p:nvSpPr>
          <p:cNvPr id="12" name="workflow-desc-0">
            <a:extLst>
              <a:ext uri="{FF2B5EF4-FFF2-40B4-BE49-F238E27FC236}">
                <a16:creationId xmlns:a16="http://schemas.microsoft.com/office/drawing/2014/main" id="{D1B38490-AA44-4A8D-B36F-CA61B0CC10FD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플레이</a:t>
            </a:r>
            <a:r>
              <a:rPr sz="1275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흐름과</a:t>
            </a:r>
            <a:endParaRPr sz="1275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2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행동</a:t>
            </a:r>
            <a:r>
              <a:rPr sz="1275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규칙</a:t>
            </a:r>
            <a:r>
              <a:rPr sz="1275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정리</a:t>
            </a:r>
            <a:endParaRPr sz="1275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workflow-node-1">
            <a:extLst>
              <a:ext uri="{FF2B5EF4-FFF2-40B4-BE49-F238E27FC236}">
                <a16:creationId xmlns:a16="http://schemas.microsoft.com/office/drawing/2014/main" id="{C8009B2F-092F-43CB-9784-0BA6EC61C13F}"/>
              </a:ext>
            </a:extLst>
          </p:cNvPr>
          <p:cNvSpPr>
            <a:spLocks noGrp="1"/>
          </p:cNvSpPr>
          <p:nvPr/>
        </p:nvSpPr>
        <p:spPr>
          <a:xfrm>
            <a:off x="2800350" y="1847850"/>
            <a:ext cx="1600200" cy="1676400"/>
          </a:xfrm>
          <a:prstGeom prst="rect">
            <a:avLst/>
          </a:prstGeom>
          <a:solidFill>
            <a:srgbClr val="DDF3F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workflow-step-1">
            <a:extLst>
              <a:ext uri="{FF2B5EF4-FFF2-40B4-BE49-F238E27FC236}">
                <a16:creationId xmlns:a16="http://schemas.microsoft.com/office/drawing/2014/main" id="{C97EBDC0-1D4A-44D9-8348-2B2E50148F68}"/>
              </a:ext>
            </a:extLst>
          </p:cNvPr>
          <p:cNvSpPr>
            <a:spLocks noGrp="1"/>
          </p:cNvSpPr>
          <p:nvPr/>
        </p:nvSpPr>
        <p:spPr>
          <a:xfrm>
            <a:off x="2971800" y="20193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workflow-title-1">
            <a:extLst>
              <a:ext uri="{FF2B5EF4-FFF2-40B4-BE49-F238E27FC236}">
                <a16:creationId xmlns:a16="http://schemas.microsoft.com/office/drawing/2014/main" id="{BAE23468-3FDC-4607-8D88-87574E655F74}"/>
              </a:ext>
            </a:extLst>
          </p:cNvPr>
          <p:cNvSpPr>
            <a:spLocks noGrp="1"/>
          </p:cNvSpPr>
          <p:nvPr/>
        </p:nvSpPr>
        <p:spPr>
          <a:xfrm>
            <a:off x="2971800" y="2400300"/>
            <a:ext cx="1295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 dirty="0">
                <a:solidFill>
                  <a:srgbClr val="111318"/>
                </a:solidFill>
                <a:latin typeface="Noto Sans KR"/>
                <a:ea typeface="Noto Sans KR"/>
                <a:cs typeface="Noto Sans KR"/>
              </a:rPr>
              <a:t>AI </a:t>
            </a:r>
            <a:r>
              <a:rPr sz="1650" b="1" i="0" dirty="0" err="1">
                <a:solidFill>
                  <a:srgbClr val="111318"/>
                </a:solidFill>
                <a:latin typeface="Noto Sans KR"/>
                <a:ea typeface="Noto Sans KR"/>
                <a:cs typeface="Noto Sans KR"/>
              </a:rPr>
              <a:t>규칙</a:t>
            </a:r>
            <a:r>
              <a:rPr lang="en-US" sz="1650" b="1" i="0" dirty="0">
                <a:solidFill>
                  <a:srgbClr val="11131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650" b="1" i="0" dirty="0">
                <a:solidFill>
                  <a:srgbClr val="111318"/>
                </a:solidFill>
                <a:latin typeface="Noto Sans KR"/>
                <a:ea typeface="Noto Sans KR"/>
                <a:cs typeface="Noto Sans KR"/>
              </a:rPr>
              <a:t>정립</a:t>
            </a:r>
            <a:endParaRPr sz="1650" b="1" i="0" dirty="0">
              <a:solidFill>
                <a:srgbClr val="11131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workflow-desc-1">
            <a:extLst>
              <a:ext uri="{FF2B5EF4-FFF2-40B4-BE49-F238E27FC236}">
                <a16:creationId xmlns:a16="http://schemas.microsoft.com/office/drawing/2014/main" id="{8DC0AF36-D5FC-47F7-B7CB-3196C3AD6F03}"/>
              </a:ext>
            </a:extLst>
          </p:cNvPr>
          <p:cNvSpPr>
            <a:spLocks noGrp="1"/>
          </p:cNvSpPr>
          <p:nvPr/>
        </p:nvSpPr>
        <p:spPr>
          <a:xfrm>
            <a:off x="2971800" y="29718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275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개발 규칙 확립 </a:t>
            </a:r>
            <a:endParaRPr lang="en-US" altLang="ko-KR" sz="1275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2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endParaRPr lang="ko-KR" altLang="en-US" sz="1275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workflow-node-2">
            <a:extLst>
              <a:ext uri="{FF2B5EF4-FFF2-40B4-BE49-F238E27FC236}">
                <a16:creationId xmlns:a16="http://schemas.microsoft.com/office/drawing/2014/main" id="{B5F28E27-ED56-4BDA-BC58-7A3ED6E1518C}"/>
              </a:ext>
            </a:extLst>
          </p:cNvPr>
          <p:cNvSpPr>
            <a:spLocks noGrp="1"/>
          </p:cNvSpPr>
          <p:nvPr/>
        </p:nvSpPr>
        <p:spPr>
          <a:xfrm>
            <a:off x="5048250" y="1847850"/>
            <a:ext cx="1600200" cy="1676400"/>
          </a:xfrm>
          <a:prstGeom prst="rect">
            <a:avLst/>
          </a:prstGeom>
          <a:solidFill>
            <a:srgbClr val="EEF0F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workflow-step-2">
            <a:extLst>
              <a:ext uri="{FF2B5EF4-FFF2-40B4-BE49-F238E27FC236}">
                <a16:creationId xmlns:a16="http://schemas.microsoft.com/office/drawing/2014/main" id="{BCF42BF4-59B4-4447-8047-382FF6E184E4}"/>
              </a:ext>
            </a:extLst>
          </p:cNvPr>
          <p:cNvSpPr>
            <a:spLocks noGrp="1"/>
          </p:cNvSpPr>
          <p:nvPr/>
        </p:nvSpPr>
        <p:spPr>
          <a:xfrm>
            <a:off x="5219700" y="20193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" name="workflow-title-2">
            <a:extLst>
              <a:ext uri="{FF2B5EF4-FFF2-40B4-BE49-F238E27FC236}">
                <a16:creationId xmlns:a16="http://schemas.microsoft.com/office/drawing/2014/main" id="{974723A3-010E-4F29-B1C4-9C1164133CDA}"/>
              </a:ext>
            </a:extLst>
          </p:cNvPr>
          <p:cNvSpPr>
            <a:spLocks noGrp="1"/>
          </p:cNvSpPr>
          <p:nvPr/>
        </p:nvSpPr>
        <p:spPr>
          <a:xfrm>
            <a:off x="5219700" y="2400300"/>
            <a:ext cx="129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50" b="1" dirty="0">
                <a:solidFill>
                  <a:srgbClr val="111318"/>
                </a:solidFill>
                <a:latin typeface="Noto Sans KR"/>
                <a:ea typeface="Noto Sans KR"/>
                <a:cs typeface="Noto Sans KR"/>
              </a:rPr>
              <a:t>게임 로직 구현</a:t>
            </a:r>
            <a:endParaRPr lang="ko-KR" altLang="en-US" sz="1650" b="1" i="0" dirty="0">
              <a:solidFill>
                <a:srgbClr val="11131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workflow-desc-2">
            <a:extLst>
              <a:ext uri="{FF2B5EF4-FFF2-40B4-BE49-F238E27FC236}">
                <a16:creationId xmlns:a16="http://schemas.microsoft.com/office/drawing/2014/main" id="{FDBF50B9-028F-4C46-ABF1-6C4CADE1FDA4}"/>
              </a:ext>
            </a:extLst>
          </p:cNvPr>
          <p:cNvSpPr>
            <a:spLocks noGrp="1"/>
          </p:cNvSpPr>
          <p:nvPr/>
        </p:nvSpPr>
        <p:spPr>
          <a:xfrm>
            <a:off x="5219700" y="29718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시스템·상호작용</a:t>
            </a:r>
            <a:endParaRPr sz="1275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2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기능</a:t>
            </a:r>
            <a:r>
              <a:rPr sz="1275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개발</a:t>
            </a:r>
            <a:endParaRPr sz="1275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workflow-node-3">
            <a:extLst>
              <a:ext uri="{FF2B5EF4-FFF2-40B4-BE49-F238E27FC236}">
                <a16:creationId xmlns:a16="http://schemas.microsoft.com/office/drawing/2014/main" id="{48723C16-C258-4690-93B4-B5A02123C90B}"/>
              </a:ext>
            </a:extLst>
          </p:cNvPr>
          <p:cNvSpPr>
            <a:spLocks noGrp="1"/>
          </p:cNvSpPr>
          <p:nvPr/>
        </p:nvSpPr>
        <p:spPr>
          <a:xfrm>
            <a:off x="7296150" y="1847850"/>
            <a:ext cx="1600200" cy="1676400"/>
          </a:xfrm>
          <a:prstGeom prst="rect">
            <a:avLst/>
          </a:prstGeom>
          <a:solidFill>
            <a:srgbClr val="EEF0F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workflow-step-3">
            <a:extLst>
              <a:ext uri="{FF2B5EF4-FFF2-40B4-BE49-F238E27FC236}">
                <a16:creationId xmlns:a16="http://schemas.microsoft.com/office/drawing/2014/main" id="{46983A25-6371-4745-B8A1-CEC7C92FB4B3}"/>
              </a:ext>
            </a:extLst>
          </p:cNvPr>
          <p:cNvSpPr>
            <a:spLocks noGrp="1"/>
          </p:cNvSpPr>
          <p:nvPr/>
        </p:nvSpPr>
        <p:spPr>
          <a:xfrm>
            <a:off x="7467600" y="20193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workflow-title-3">
            <a:extLst>
              <a:ext uri="{FF2B5EF4-FFF2-40B4-BE49-F238E27FC236}">
                <a16:creationId xmlns:a16="http://schemas.microsoft.com/office/drawing/2014/main" id="{EE3A97EF-6FBF-425A-AA11-45FE78BE836C}"/>
              </a:ext>
            </a:extLst>
          </p:cNvPr>
          <p:cNvSpPr>
            <a:spLocks noGrp="1"/>
          </p:cNvSpPr>
          <p:nvPr/>
        </p:nvSpPr>
        <p:spPr>
          <a:xfrm>
            <a:off x="7467600" y="2400300"/>
            <a:ext cx="129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endParaRPr lang="ko-KR" altLang="en-US" sz="1650" b="1" i="0" dirty="0">
              <a:solidFill>
                <a:srgbClr val="11131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4" name="workflow-desc-3">
            <a:extLst>
              <a:ext uri="{FF2B5EF4-FFF2-40B4-BE49-F238E27FC236}">
                <a16:creationId xmlns:a16="http://schemas.microsoft.com/office/drawing/2014/main" id="{DDFD8E15-418C-4F9B-8B09-9C5A82D54C9A}"/>
              </a:ext>
            </a:extLst>
          </p:cNvPr>
          <p:cNvSpPr>
            <a:spLocks noGrp="1"/>
          </p:cNvSpPr>
          <p:nvPr/>
        </p:nvSpPr>
        <p:spPr>
          <a:xfrm>
            <a:off x="7467600" y="29718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275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기획 및 규칙을 </a:t>
            </a:r>
            <a:endParaRPr lang="en-US" altLang="ko-KR" sz="1275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2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275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바탕으로 </a:t>
            </a:r>
            <a:r>
              <a:rPr lang="ko-KR" altLang="en-US" sz="1275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검증</a:t>
            </a:r>
            <a:endParaRPr sz="1275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workflow-node-4">
            <a:extLst>
              <a:ext uri="{FF2B5EF4-FFF2-40B4-BE49-F238E27FC236}">
                <a16:creationId xmlns:a16="http://schemas.microsoft.com/office/drawing/2014/main" id="{EBCEA937-A2DD-456F-A42D-769A9B561972}"/>
              </a:ext>
            </a:extLst>
          </p:cNvPr>
          <p:cNvSpPr>
            <a:spLocks noGrp="1"/>
          </p:cNvSpPr>
          <p:nvPr/>
        </p:nvSpPr>
        <p:spPr>
          <a:xfrm>
            <a:off x="9544050" y="1847850"/>
            <a:ext cx="1600200" cy="1676400"/>
          </a:xfrm>
          <a:prstGeom prst="rect">
            <a:avLst/>
          </a:prstGeom>
          <a:solidFill>
            <a:srgbClr val="EEF0F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workflow-step-4">
            <a:extLst>
              <a:ext uri="{FF2B5EF4-FFF2-40B4-BE49-F238E27FC236}">
                <a16:creationId xmlns:a16="http://schemas.microsoft.com/office/drawing/2014/main" id="{8CA6EE92-65CE-4D07-B30A-2B81635805CD}"/>
              </a:ext>
            </a:extLst>
          </p:cNvPr>
          <p:cNvSpPr>
            <a:spLocks noGrp="1"/>
          </p:cNvSpPr>
          <p:nvPr/>
        </p:nvSpPr>
        <p:spPr>
          <a:xfrm>
            <a:off x="9715500" y="20193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7" name="workflow-title-4">
            <a:extLst>
              <a:ext uri="{FF2B5EF4-FFF2-40B4-BE49-F238E27FC236}">
                <a16:creationId xmlns:a16="http://schemas.microsoft.com/office/drawing/2014/main" id="{FFA8E53F-8E66-4ECD-9689-60ADC7DC3838}"/>
              </a:ext>
            </a:extLst>
          </p:cNvPr>
          <p:cNvSpPr>
            <a:spLocks noGrp="1"/>
          </p:cNvSpPr>
          <p:nvPr/>
        </p:nvSpPr>
        <p:spPr>
          <a:xfrm>
            <a:off x="9715500" y="2400300"/>
            <a:ext cx="129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rPr>
              <a:t>빌드 검증</a:t>
            </a:r>
          </a:p>
        </p:txBody>
      </p:sp>
      <p:sp>
        <p:nvSpPr>
          <p:cNvPr id="28" name="workflow-desc-4">
            <a:extLst>
              <a:ext uri="{FF2B5EF4-FFF2-40B4-BE49-F238E27FC236}">
                <a16:creationId xmlns:a16="http://schemas.microsoft.com/office/drawing/2014/main" id="{23F5DE58-7CB1-40B8-AF61-2FC07FF0771E}"/>
              </a:ext>
            </a:extLst>
          </p:cNvPr>
          <p:cNvSpPr>
            <a:spLocks noGrp="1"/>
          </p:cNvSpPr>
          <p:nvPr/>
        </p:nvSpPr>
        <p:spPr>
          <a:xfrm>
            <a:off x="9715500" y="29718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고성능</a:t>
            </a:r>
            <a:r>
              <a:rPr sz="1275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환경에서</a:t>
            </a:r>
            <a:endParaRPr sz="1275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2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렌더링·실행</a:t>
            </a:r>
            <a:r>
              <a:rPr sz="1275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i="0" dirty="0" err="1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275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workflow-bottom-rule">
            <a:extLst>
              <a:ext uri="{FF2B5EF4-FFF2-40B4-BE49-F238E27FC236}">
                <a16:creationId xmlns:a16="http://schemas.microsoft.com/office/drawing/2014/main" id="{84DFF304-A085-45D0-811E-15E760EF9C06}"/>
              </a:ext>
            </a:extLst>
          </p:cNvPr>
          <p:cNvSpPr>
            <a:spLocks noGrp="1"/>
          </p:cNvSpPr>
          <p:nvPr/>
        </p:nvSpPr>
        <p:spPr>
          <a:xfrm>
            <a:off x="552450" y="4171950"/>
            <a:ext cx="111252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workflow-clarity">
            <a:extLst>
              <a:ext uri="{FF2B5EF4-FFF2-40B4-BE49-F238E27FC236}">
                <a16:creationId xmlns:a16="http://schemas.microsoft.com/office/drawing/2014/main" id="{EEF9FB25-1538-4FB9-B75D-A3775420765C}"/>
              </a:ext>
            </a:extLst>
          </p:cNvPr>
          <p:cNvSpPr>
            <a:spLocks noGrp="1"/>
          </p:cNvSpPr>
          <p:nvPr/>
        </p:nvSpPr>
        <p:spPr>
          <a:xfrm>
            <a:off x="552450" y="4514849"/>
            <a:ext cx="4400550" cy="1733549"/>
          </a:xfrm>
          <a:prstGeom prst="rect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workflow-clarity-text">
            <a:extLst>
              <a:ext uri="{FF2B5EF4-FFF2-40B4-BE49-F238E27FC236}">
                <a16:creationId xmlns:a16="http://schemas.microsoft.com/office/drawing/2014/main" id="{4758BFBA-DD97-4C87-9433-05033A2E45BE}"/>
              </a:ext>
            </a:extLst>
          </p:cNvPr>
          <p:cNvSpPr>
            <a:spLocks noGrp="1"/>
          </p:cNvSpPr>
          <p:nvPr/>
        </p:nvSpPr>
        <p:spPr>
          <a:xfrm>
            <a:off x="723900" y="4667248"/>
            <a:ext cx="4112419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4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사용 </a:t>
            </a:r>
            <a:r>
              <a:rPr lang="en-US" altLang="ko-KR" sz="24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AI</a:t>
            </a:r>
          </a:p>
          <a:p>
            <a:pPr algn="l"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 lang="en-US" sz="1500" b="0" i="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500" b="1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기획</a:t>
            </a:r>
            <a:r>
              <a:rPr lang="ko-KR" altLang="en-US" sz="1500" b="0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: Codex 5.6 Sol, Claude Code Fable5</a:t>
            </a:r>
            <a:endParaRPr lang="en-US" sz="1500" b="0" i="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5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개발</a:t>
            </a:r>
            <a:r>
              <a:rPr lang="ko-KR" altLang="en-US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lang="en-US" sz="1500" b="0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Codex 5.6 Sol, </a:t>
            </a:r>
            <a:r>
              <a:rPr lang="en-US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Claude Code Fable5</a:t>
            </a:r>
          </a:p>
          <a:p>
            <a:pPr algn="l"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500" b="1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아트</a:t>
            </a:r>
            <a:r>
              <a:rPr lang="ko-KR" altLang="en-US" sz="1500" b="0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500" b="0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lang="en-US" sz="1500" b="0" i="0" dirty="0" err="1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ComfyUI</a:t>
            </a:r>
            <a:r>
              <a:rPr lang="en-US" sz="1500" b="0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 AI</a:t>
            </a:r>
            <a:r>
              <a:rPr lang="en-US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, Flow AI, Gemini Pro 3.7  </a:t>
            </a:r>
            <a:endParaRPr sz="1500" b="0" i="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workflow-title-2">
            <a:extLst>
              <a:ext uri="{FF2B5EF4-FFF2-40B4-BE49-F238E27FC236}">
                <a16:creationId xmlns:a16="http://schemas.microsoft.com/office/drawing/2014/main" id="{27C4896F-5FBE-959C-46E8-98082BBEF663}"/>
              </a:ext>
            </a:extLst>
          </p:cNvPr>
          <p:cNvSpPr>
            <a:spLocks noGrp="1"/>
          </p:cNvSpPr>
          <p:nvPr/>
        </p:nvSpPr>
        <p:spPr>
          <a:xfrm>
            <a:off x="7467600" y="2402681"/>
            <a:ext cx="129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50" b="1" dirty="0">
                <a:solidFill>
                  <a:srgbClr val="111318"/>
                </a:solidFill>
                <a:latin typeface="Noto Sans KR"/>
                <a:ea typeface="Noto Sans KR"/>
                <a:cs typeface="Noto Sans KR"/>
              </a:rPr>
              <a:t>해당 로직 검증</a:t>
            </a:r>
            <a:endParaRPr lang="ko-KR" altLang="en-US" sz="1650" b="1" i="0" dirty="0">
              <a:solidFill>
                <a:srgbClr val="11131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workflow-clarity">
            <a:extLst>
              <a:ext uri="{FF2B5EF4-FFF2-40B4-BE49-F238E27FC236}">
                <a16:creationId xmlns:a16="http://schemas.microsoft.com/office/drawing/2014/main" id="{13E615C2-F72C-4D6B-6942-7232629E22E5}"/>
              </a:ext>
            </a:extLst>
          </p:cNvPr>
          <p:cNvSpPr>
            <a:spLocks noGrp="1"/>
          </p:cNvSpPr>
          <p:nvPr/>
        </p:nvSpPr>
        <p:spPr>
          <a:xfrm>
            <a:off x="6515100" y="4514849"/>
            <a:ext cx="4400550" cy="1733549"/>
          </a:xfrm>
          <a:prstGeom prst="rect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workflow-clarity-text">
            <a:extLst>
              <a:ext uri="{FF2B5EF4-FFF2-40B4-BE49-F238E27FC236}">
                <a16:creationId xmlns:a16="http://schemas.microsoft.com/office/drawing/2014/main" id="{857D92B5-AEB8-DEAB-60C6-674BEBA08E0B}"/>
              </a:ext>
            </a:extLst>
          </p:cNvPr>
          <p:cNvSpPr>
            <a:spLocks noGrp="1"/>
          </p:cNvSpPr>
          <p:nvPr/>
        </p:nvSpPr>
        <p:spPr>
          <a:xfrm>
            <a:off x="6648450" y="4667248"/>
            <a:ext cx="4150519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4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주요 </a:t>
            </a:r>
            <a:r>
              <a:rPr lang="en-US" altLang="ko-KR" sz="24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MD</a:t>
            </a:r>
          </a:p>
          <a:p>
            <a:pPr algn="l"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 lang="en-US" sz="1500" b="0" i="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- GDD</a:t>
            </a:r>
            <a:r>
              <a:rPr lang="ko-KR" altLang="en-US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를 기준으로 게임 규칙 </a:t>
            </a:r>
            <a:r>
              <a:rPr lang="ko-KR" altLang="en-US" sz="1500" dirty="0" err="1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등을정리</a:t>
            </a:r>
            <a:endParaRPr lang="en-US" altLang="ko-KR" sz="150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- </a:t>
            </a:r>
            <a:r>
              <a:rPr lang="ko-KR" altLang="en-US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각 </a:t>
            </a:r>
            <a:r>
              <a:rPr lang="en-US" altLang="ko-KR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Day</a:t>
            </a:r>
            <a:r>
              <a:rPr lang="ko-KR" altLang="en-US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의 목표</a:t>
            </a:r>
            <a:r>
              <a:rPr lang="en-US" altLang="ko-KR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이상 현상</a:t>
            </a:r>
            <a:r>
              <a:rPr lang="en-US" altLang="ko-KR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클리어 조건을 분리</a:t>
            </a:r>
            <a:endParaRPr lang="en-US" altLang="ko-KR" sz="150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- WORKFLOW.md </a:t>
            </a:r>
            <a:r>
              <a:rPr lang="ko-KR" altLang="en-US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등으로 </a:t>
            </a:r>
            <a:r>
              <a:rPr lang="en-US" altLang="ko-KR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AI </a:t>
            </a:r>
            <a:r>
              <a:rPr lang="ko-KR" altLang="en-US" sz="15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협업 개발 기준을 유지</a:t>
            </a:r>
            <a:endParaRPr lang="en-US" sz="1500" i="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05222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9ABFCA92-6E5F-2CE2-6B22-AB6CED06402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78" y="-41577"/>
            <a:ext cx="12185522" cy="6858000"/>
          </a:xfrm>
          <a:prstGeom prst="rect">
            <a:avLst/>
          </a:prstGeom>
        </p:spPr>
      </p:pic>
      <p:sp>
        <p:nvSpPr>
          <p:cNvPr id="31" name="section-4">
            <a:extLst>
              <a:ext uri="{FF2B5EF4-FFF2-40B4-BE49-F238E27FC236}">
                <a16:creationId xmlns:a16="http://schemas.microsoft.com/office/drawing/2014/main" id="{D3CBBC63-8D0D-4F4E-9E2F-B4E83AB6B72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03 · CORE GAME SYSTEM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FE62F651-9B2D-4457-A00B-341135A384C5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22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3225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Scenario </a:t>
            </a:r>
            <a:r>
              <a:rPr lang="en-US" sz="3225" b="1" i="0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Game Loop</a:t>
            </a:r>
            <a:endParaRPr sz="3225" b="1" i="0" dirty="0">
              <a:solidFill>
                <a:schemeClr val="accent6">
                  <a:lumMod val="40000"/>
                  <a:lumOff val="6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B4E9F490-17C1-4E03-917B-3329EA68B8D7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6B0410C7-7F4E-462A-AB92-92C7A9A3647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sz="1050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5</a:t>
            </a:r>
            <a:endParaRPr sz="1050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799A48-1F8C-BA0A-74BA-96C716BA0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13" y="1847849"/>
            <a:ext cx="4855853" cy="3976169"/>
          </a:xfrm>
          <a:prstGeom prst="rect">
            <a:avLst/>
          </a:prstGeom>
        </p:spPr>
      </p:pic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061FE1F-3C51-54EE-6E0A-680A4AB54939}"/>
              </a:ext>
            </a:extLst>
          </p:cNvPr>
          <p:cNvSpPr/>
          <p:nvPr/>
        </p:nvSpPr>
        <p:spPr>
          <a:xfrm>
            <a:off x="6096000" y="1695451"/>
            <a:ext cx="5670884" cy="2389038"/>
          </a:xfrm>
          <a:prstGeom prst="roundRect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workflow-clarity-text">
            <a:extLst>
              <a:ext uri="{FF2B5EF4-FFF2-40B4-BE49-F238E27FC236}">
                <a16:creationId xmlns:a16="http://schemas.microsoft.com/office/drawing/2014/main" id="{B8B9FB7B-4BAD-F1EA-656D-A578C5D654D2}"/>
              </a:ext>
            </a:extLst>
          </p:cNvPr>
          <p:cNvSpPr>
            <a:spLocks noGrp="1"/>
          </p:cNvSpPr>
          <p:nvPr/>
        </p:nvSpPr>
        <p:spPr>
          <a:xfrm>
            <a:off x="6343650" y="1924049"/>
            <a:ext cx="5299576" cy="24600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4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반복 플레이 구조</a:t>
            </a:r>
            <a:endParaRPr lang="en-US" altLang="ko-KR" sz="2400" b="1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 lang="en-US" sz="1500" b="0" i="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  <a:p>
            <a:pPr marL="285750" indent="-285750">
              <a:buFontTx/>
              <a:buChar char="-"/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00" b="1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수첩의 규칙을 먼저 확인한다</a:t>
            </a:r>
            <a:r>
              <a:rPr lang="en-US" altLang="ko-KR" sz="1600" b="1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marL="285750" indent="-285750">
              <a:buFontTx/>
              <a:buChar char="-"/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전시장을 순찰하며 변화를 관찰한다</a:t>
            </a:r>
            <a:r>
              <a:rPr lang="en-US" altLang="ko-KR" sz="16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marL="285750" indent="-285750">
              <a:buFontTx/>
              <a:buChar char="-"/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00" b="1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배터리 스캔을 통해 자원 회복한다</a:t>
            </a:r>
            <a:r>
              <a:rPr lang="en-US" altLang="ko-KR" sz="1600" b="1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marL="285750" indent="-285750">
              <a:buFontTx/>
              <a:buChar char="-"/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우측 </a:t>
            </a:r>
            <a:r>
              <a:rPr lang="en-US" altLang="ko-KR" sz="16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UI(</a:t>
            </a:r>
            <a:r>
              <a:rPr lang="ko-KR" altLang="en-US" sz="16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레이더와 퀘스트</a:t>
            </a:r>
            <a:r>
              <a:rPr lang="en-US" altLang="ko-KR" sz="16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)</a:t>
            </a:r>
            <a:r>
              <a:rPr lang="ko-KR" altLang="en-US" sz="16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를 보며 퀘스트를 진행한다</a:t>
            </a:r>
            <a:r>
              <a:rPr lang="en-US" altLang="ko-KR" sz="16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.</a:t>
            </a:r>
            <a:endParaRPr lang="en-US" altLang="ko-KR" sz="1600" b="1" i="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  <a:p>
            <a:pPr marL="285750" indent="-285750">
              <a:buFontTx/>
              <a:buChar char="-"/>
              <a:def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00" b="1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각 </a:t>
            </a:r>
            <a:r>
              <a:rPr lang="en-US" altLang="ko-KR" sz="1600" b="1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Day(Scenario)</a:t>
            </a:r>
            <a:r>
              <a:rPr lang="ko-KR" altLang="en-US" sz="1600" b="1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마다 규칙과 클리어 조건은 상이하다</a:t>
            </a:r>
            <a:r>
              <a:rPr lang="en-US" altLang="ko-KR" sz="1600" b="1" i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.</a:t>
            </a:r>
            <a:endParaRPr lang="en-US" sz="1600" b="0" i="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482B751-B7F0-6EE5-4441-1D4D2291594D}"/>
              </a:ext>
            </a:extLst>
          </p:cNvPr>
          <p:cNvSpPr/>
          <p:nvPr/>
        </p:nvSpPr>
        <p:spPr>
          <a:xfrm>
            <a:off x="6096000" y="4594274"/>
            <a:ext cx="5595854" cy="1136550"/>
          </a:xfrm>
          <a:prstGeom prst="roundRect">
            <a:avLst/>
          </a:prstGeom>
          <a:gradFill flip="none" rotWithShape="1">
            <a:gsLst>
              <a:gs pos="0">
                <a:srgbClr val="ECC78D"/>
              </a:gs>
              <a:gs pos="72000">
                <a:srgbClr val="FF0000"/>
              </a:gs>
              <a:gs pos="83000">
                <a:srgbClr val="FF0000"/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다만</a:t>
            </a:r>
            <a:r>
              <a:rPr lang="en-US" altLang="ko-KR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규칙을 어기면 해당 </a:t>
            </a:r>
            <a:r>
              <a:rPr lang="en-US" altLang="ko-KR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Day</a:t>
            </a:r>
            <a:r>
              <a:rPr lang="ko-KR" altLang="en-US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가 </a:t>
            </a:r>
            <a:r>
              <a:rPr lang="ko-KR" altLang="en-US" b="1" dirty="0" err="1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재시작된다</a:t>
            </a:r>
            <a:r>
              <a:rPr lang="en-US" altLang="ko-KR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5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DEBEF953-BD63-B918-8D06-3132C26E12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22" name="section-5">
            <a:extLst>
              <a:ext uri="{FF2B5EF4-FFF2-40B4-BE49-F238E27FC236}">
                <a16:creationId xmlns:a16="http://schemas.microsoft.com/office/drawing/2014/main" id="{2FD9B54B-B023-4ADB-993D-8DF65AD2A1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04 · TEAM &amp; COLLABORATION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30F13F99-1138-40D7-ADA2-4663AD0FC7E3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22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3225" b="1" i="0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역할</a:t>
            </a:r>
            <a:endParaRPr sz="3225" b="1" i="0" dirty="0">
              <a:solidFill>
                <a:schemeClr val="accent6">
                  <a:lumMod val="40000"/>
                  <a:lumOff val="6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-5">
            <a:extLst>
              <a:ext uri="{FF2B5EF4-FFF2-40B4-BE49-F238E27FC236}">
                <a16:creationId xmlns:a16="http://schemas.microsoft.com/office/drawing/2014/main" id="{C84B2344-BC80-43FF-9D5A-FE61F0ABD833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8CC93F83-2BE1-4175-8493-8EA4F3D69347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sz="1050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6</a:t>
            </a:r>
            <a:endParaRPr sz="1050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am-top-0">
            <a:extLst>
              <a:ext uri="{FF2B5EF4-FFF2-40B4-BE49-F238E27FC236}">
                <a16:creationId xmlns:a16="http://schemas.microsoft.com/office/drawing/2014/main" id="{FAB2446C-4CC4-4B92-8E3C-AA4041DF0A06}"/>
              </a:ext>
            </a:extLst>
          </p:cNvPr>
          <p:cNvSpPr>
            <a:spLocks noGrp="1"/>
          </p:cNvSpPr>
          <p:nvPr/>
        </p:nvSpPr>
        <p:spPr>
          <a:xfrm>
            <a:off x="552450" y="2095505"/>
            <a:ext cx="504825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am-name-0">
            <a:extLst>
              <a:ext uri="{FF2B5EF4-FFF2-40B4-BE49-F238E27FC236}">
                <a16:creationId xmlns:a16="http://schemas.microsoft.com/office/drawing/2014/main" id="{8330F25E-61A5-4A90-8224-BA23415CB886}"/>
              </a:ext>
            </a:extLst>
          </p:cNvPr>
          <p:cNvSpPr>
            <a:spLocks noGrp="1"/>
          </p:cNvSpPr>
          <p:nvPr/>
        </p:nvSpPr>
        <p:spPr>
          <a:xfrm>
            <a:off x="552450" y="2324105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임찬진 · </a:t>
            </a:r>
            <a:r>
              <a:rPr sz="187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팀장</a:t>
            </a:r>
            <a:endParaRPr sz="1875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team-role-0">
            <a:extLst>
              <a:ext uri="{FF2B5EF4-FFF2-40B4-BE49-F238E27FC236}">
                <a16:creationId xmlns:a16="http://schemas.microsoft.com/office/drawing/2014/main" id="{FDF9985D-691E-4F7A-BEF1-06483080C9F0}"/>
              </a:ext>
            </a:extLst>
          </p:cNvPr>
          <p:cNvSpPr>
            <a:spLocks noGrp="1"/>
          </p:cNvSpPr>
          <p:nvPr/>
        </p:nvSpPr>
        <p:spPr>
          <a:xfrm>
            <a:off x="552450" y="278130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 dirty="0" err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시스템</a:t>
            </a:r>
            <a:r>
              <a:rPr sz="1350" b="1" i="0" dirty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개발</a:t>
            </a:r>
            <a:r>
              <a:rPr sz="1350" b="1" i="0" dirty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 · 3D </a:t>
            </a:r>
            <a:r>
              <a:rPr sz="1350" b="1" i="0" dirty="0" err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환경</a:t>
            </a:r>
            <a:endParaRPr sz="1350" b="1" i="0" dirty="0">
              <a:solidFill>
                <a:srgbClr val="3D8D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team-output-0">
            <a:extLst>
              <a:ext uri="{FF2B5EF4-FFF2-40B4-BE49-F238E27FC236}">
                <a16:creationId xmlns:a16="http://schemas.microsoft.com/office/drawing/2014/main" id="{58E80B57-88D2-4142-AB89-779989FB8216}"/>
              </a:ext>
            </a:extLst>
          </p:cNvPr>
          <p:cNvSpPr>
            <a:spLocks noGrp="1"/>
          </p:cNvSpPr>
          <p:nvPr/>
        </p:nvSpPr>
        <p:spPr>
          <a:xfrm>
            <a:off x="552450" y="3162305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개발 프레임워크 확립</a:t>
            </a:r>
            <a:endParaRPr lang="en-US" altLang="ko-KR" sz="1425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4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플레이어 로직 구현  </a:t>
            </a:r>
            <a:endParaRPr sz="1425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team-top-1">
            <a:extLst>
              <a:ext uri="{FF2B5EF4-FFF2-40B4-BE49-F238E27FC236}">
                <a16:creationId xmlns:a16="http://schemas.microsoft.com/office/drawing/2014/main" id="{61504B3D-0960-47F3-853B-26137E7BD6B6}"/>
              </a:ext>
            </a:extLst>
          </p:cNvPr>
          <p:cNvSpPr>
            <a:spLocks noGrp="1"/>
          </p:cNvSpPr>
          <p:nvPr/>
        </p:nvSpPr>
        <p:spPr>
          <a:xfrm>
            <a:off x="6191250" y="2095505"/>
            <a:ext cx="504825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am-name-1">
            <a:extLst>
              <a:ext uri="{FF2B5EF4-FFF2-40B4-BE49-F238E27FC236}">
                <a16:creationId xmlns:a16="http://schemas.microsoft.com/office/drawing/2014/main" id="{BED126E4-8DA9-455D-AE56-7105AEA6604C}"/>
              </a:ext>
            </a:extLst>
          </p:cNvPr>
          <p:cNvSpPr>
            <a:spLocks noGrp="1"/>
          </p:cNvSpPr>
          <p:nvPr/>
        </p:nvSpPr>
        <p:spPr>
          <a:xfrm>
            <a:off x="6191250" y="2324105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김정준</a:t>
            </a:r>
            <a:endParaRPr sz="1875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eam-role-1">
            <a:extLst>
              <a:ext uri="{FF2B5EF4-FFF2-40B4-BE49-F238E27FC236}">
                <a16:creationId xmlns:a16="http://schemas.microsoft.com/office/drawing/2014/main" id="{D1450AB9-9DF5-42BA-A32D-2699011E8FE2}"/>
              </a:ext>
            </a:extLst>
          </p:cNvPr>
          <p:cNvSpPr>
            <a:spLocks noGrp="1"/>
          </p:cNvSpPr>
          <p:nvPr/>
        </p:nvSpPr>
        <p:spPr>
          <a:xfrm>
            <a:off x="6191250" y="278130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 dirty="0" err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총괄</a:t>
            </a:r>
            <a:r>
              <a:rPr sz="1350" b="1" i="0" dirty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기획</a:t>
            </a:r>
            <a:r>
              <a:rPr sz="1350" b="1" i="0" dirty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350" b="1" i="0" dirty="0" err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개발</a:t>
            </a:r>
            <a:endParaRPr sz="1350" b="1" i="0" dirty="0">
              <a:solidFill>
                <a:srgbClr val="3D8D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team-output-1">
            <a:extLst>
              <a:ext uri="{FF2B5EF4-FFF2-40B4-BE49-F238E27FC236}">
                <a16:creationId xmlns:a16="http://schemas.microsoft.com/office/drawing/2014/main" id="{B8C2E93B-434D-4489-95F6-EAC1F019A384}"/>
              </a:ext>
            </a:extLst>
          </p:cNvPr>
          <p:cNvSpPr>
            <a:spLocks noGrp="1"/>
          </p:cNvSpPr>
          <p:nvPr/>
        </p:nvSpPr>
        <p:spPr>
          <a:xfrm>
            <a:off x="6191250" y="3162305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25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레벨 디자인 및 개발</a:t>
            </a:r>
            <a:endParaRPr lang="en-US" altLang="ko-KR" sz="1425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4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플레이어 로직 구현</a:t>
            </a:r>
            <a:endParaRPr sz="1425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team-top-2">
            <a:extLst>
              <a:ext uri="{FF2B5EF4-FFF2-40B4-BE49-F238E27FC236}">
                <a16:creationId xmlns:a16="http://schemas.microsoft.com/office/drawing/2014/main" id="{8DE2B6FF-2D47-4EC0-A736-D89EDEAE2E7F}"/>
              </a:ext>
            </a:extLst>
          </p:cNvPr>
          <p:cNvSpPr>
            <a:spLocks noGrp="1"/>
          </p:cNvSpPr>
          <p:nvPr/>
        </p:nvSpPr>
        <p:spPr>
          <a:xfrm>
            <a:off x="552450" y="4057655"/>
            <a:ext cx="50482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am-name-2">
            <a:extLst>
              <a:ext uri="{FF2B5EF4-FFF2-40B4-BE49-F238E27FC236}">
                <a16:creationId xmlns:a16="http://schemas.microsoft.com/office/drawing/2014/main" id="{FFDC9A14-2C86-4BC0-B86C-3830C43CAE15}"/>
              </a:ext>
            </a:extLst>
          </p:cNvPr>
          <p:cNvSpPr>
            <a:spLocks noGrp="1"/>
          </p:cNvSpPr>
          <p:nvPr/>
        </p:nvSpPr>
        <p:spPr>
          <a:xfrm>
            <a:off x="552450" y="4286255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변설화</a:t>
            </a:r>
            <a:endParaRPr sz="1875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team-role-2">
            <a:extLst>
              <a:ext uri="{FF2B5EF4-FFF2-40B4-BE49-F238E27FC236}">
                <a16:creationId xmlns:a16="http://schemas.microsoft.com/office/drawing/2014/main" id="{44D0C5C4-5DAE-4944-B7F6-20A80E4DFC24}"/>
              </a:ext>
            </a:extLst>
          </p:cNvPr>
          <p:cNvSpPr>
            <a:spLocks noGrp="1"/>
          </p:cNvSpPr>
          <p:nvPr/>
        </p:nvSpPr>
        <p:spPr>
          <a:xfrm>
            <a:off x="552450" y="474345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350" b="1" i="0" dirty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리소스 제작</a:t>
            </a:r>
            <a:endParaRPr sz="1350" b="1" i="0" dirty="0">
              <a:solidFill>
                <a:srgbClr val="3D8D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team-output-2">
            <a:extLst>
              <a:ext uri="{FF2B5EF4-FFF2-40B4-BE49-F238E27FC236}">
                <a16:creationId xmlns:a16="http://schemas.microsoft.com/office/drawing/2014/main" id="{3D1CDDCA-1856-4565-BDA8-059E62FF7780}"/>
              </a:ext>
            </a:extLst>
          </p:cNvPr>
          <p:cNvSpPr>
            <a:spLocks noGrp="1"/>
          </p:cNvSpPr>
          <p:nvPr/>
        </p:nvSpPr>
        <p:spPr>
          <a:xfrm>
            <a:off x="552450" y="5124455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이미지 및 </a:t>
            </a:r>
            <a:r>
              <a:rPr lang="ko-KR" altLang="en-US" sz="1425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동영상 제작</a:t>
            </a:r>
            <a:endParaRPr lang="en-US" altLang="ko-KR" sz="1425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4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UI </a:t>
            </a:r>
            <a:r>
              <a:rPr lang="ko-KR" altLang="en-US"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개발</a:t>
            </a:r>
            <a:endParaRPr sz="1425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team-top-3">
            <a:extLst>
              <a:ext uri="{FF2B5EF4-FFF2-40B4-BE49-F238E27FC236}">
                <a16:creationId xmlns:a16="http://schemas.microsoft.com/office/drawing/2014/main" id="{6F25053C-4529-48BE-82A8-37E257312A17}"/>
              </a:ext>
            </a:extLst>
          </p:cNvPr>
          <p:cNvSpPr>
            <a:spLocks noGrp="1"/>
          </p:cNvSpPr>
          <p:nvPr/>
        </p:nvSpPr>
        <p:spPr>
          <a:xfrm>
            <a:off x="6191250" y="4057655"/>
            <a:ext cx="50482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am-name-3">
            <a:extLst>
              <a:ext uri="{FF2B5EF4-FFF2-40B4-BE49-F238E27FC236}">
                <a16:creationId xmlns:a16="http://schemas.microsoft.com/office/drawing/2014/main" id="{D2E86541-73B2-4033-AD86-D98739C924EB}"/>
              </a:ext>
            </a:extLst>
          </p:cNvPr>
          <p:cNvSpPr>
            <a:spLocks noGrp="1"/>
          </p:cNvSpPr>
          <p:nvPr/>
        </p:nvSpPr>
        <p:spPr>
          <a:xfrm>
            <a:off x="6191250" y="4286255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박지수</a:t>
            </a:r>
            <a:endParaRPr sz="1875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team-role-3">
            <a:extLst>
              <a:ext uri="{FF2B5EF4-FFF2-40B4-BE49-F238E27FC236}">
                <a16:creationId xmlns:a16="http://schemas.microsoft.com/office/drawing/2014/main" id="{11033D08-0C54-4F84-96DF-D3526B319A72}"/>
              </a:ext>
            </a:extLst>
          </p:cNvPr>
          <p:cNvSpPr>
            <a:spLocks noGrp="1"/>
          </p:cNvSpPr>
          <p:nvPr/>
        </p:nvSpPr>
        <p:spPr>
          <a:xfrm>
            <a:off x="6191250" y="474345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350" b="1" i="0" dirty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렌더링 환경 조성</a:t>
            </a:r>
            <a:endParaRPr sz="1350" b="1" i="0" dirty="0">
              <a:solidFill>
                <a:srgbClr val="3D8D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team-output-3">
            <a:extLst>
              <a:ext uri="{FF2B5EF4-FFF2-40B4-BE49-F238E27FC236}">
                <a16:creationId xmlns:a16="http://schemas.microsoft.com/office/drawing/2014/main" id="{698E7C94-1FB0-441B-8557-42613047C89F}"/>
              </a:ext>
            </a:extLst>
          </p:cNvPr>
          <p:cNvSpPr>
            <a:spLocks noGrp="1"/>
          </p:cNvSpPr>
          <p:nvPr/>
        </p:nvSpPr>
        <p:spPr>
          <a:xfrm>
            <a:off x="6191250" y="5124455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라이팅</a:t>
            </a:r>
            <a:r>
              <a:rPr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2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머티리얼</a:t>
            </a:r>
            <a:r>
              <a:rPr lang="en-US"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42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수정</a:t>
            </a:r>
            <a:endParaRPr sz="1425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team-tools">
            <a:extLst>
              <a:ext uri="{FF2B5EF4-FFF2-40B4-BE49-F238E27FC236}">
                <a16:creationId xmlns:a16="http://schemas.microsoft.com/office/drawing/2014/main" id="{62B6B11B-2401-42D9-B0C1-C6E8F42DA84D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350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협업</a:t>
            </a:r>
            <a:r>
              <a:rPr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5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:</a:t>
            </a:r>
            <a:r>
              <a:rPr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GitHub </a:t>
            </a: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브랜치</a:t>
            </a:r>
            <a:r>
              <a:rPr lang="en-US" sz="135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35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·  Google Drive</a:t>
            </a:r>
            <a:r>
              <a:rPr lang="ko-KR" altLang="en-US" sz="135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로 </a:t>
            </a: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에셋</a:t>
            </a:r>
            <a:r>
              <a:rPr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관리 및 </a:t>
            </a: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병합</a:t>
            </a:r>
            <a:r>
              <a:rPr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· Discord</a:t>
            </a:r>
            <a:r>
              <a:rPr lang="ko-KR" altLang="en-US"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를 통한 주기적 소통 등</a:t>
            </a:r>
            <a:endParaRPr sz="1350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150187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26F3523F-2FCB-9130-8539-AEF3536B9E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20" name="section-7">
            <a:extLst>
              <a:ext uri="{FF2B5EF4-FFF2-40B4-BE49-F238E27FC236}">
                <a16:creationId xmlns:a16="http://schemas.microsoft.com/office/drawing/2014/main" id="{2327AD9B-803B-455D-821B-B663C51F5BFA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 dirty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sz="1125" b="1" i="0" dirty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5</a:t>
            </a:r>
            <a:r>
              <a:rPr sz="1125" b="1" i="0" dirty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 · BUSINESS POTENTIAL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E8B42698-86EA-4F28-9CC1-59630D63BAA7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22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 i="0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PC </a:t>
            </a:r>
            <a:r>
              <a:rPr sz="3225" b="1" i="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미스터리·공포</a:t>
            </a:r>
            <a:r>
              <a:rPr sz="3225" b="1" i="0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25" b="1" i="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게임</a:t>
            </a:r>
            <a:r>
              <a:rPr sz="3225" b="1" i="0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25" b="1" i="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이용자</a:t>
            </a:r>
            <a:r>
              <a:rPr lang="en-US" sz="3225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3225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KR"/>
                <a:ea typeface="Noto Sans KR"/>
                <a:cs typeface="Noto Sans KR"/>
              </a:rPr>
              <a:t>타겟</a:t>
            </a:r>
            <a:endParaRPr sz="3225" b="1" i="0" dirty="0">
              <a:solidFill>
                <a:schemeClr val="accent6">
                  <a:lumMod val="40000"/>
                  <a:lumOff val="6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-7">
            <a:extLst>
              <a:ext uri="{FF2B5EF4-FFF2-40B4-BE49-F238E27FC236}">
                <a16:creationId xmlns:a16="http://schemas.microsoft.com/office/drawing/2014/main" id="{B3DCAE59-5D59-42C1-8F87-0A975F7C9DB2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633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business-target-label">
            <a:extLst>
              <a:ext uri="{FF2B5EF4-FFF2-40B4-BE49-F238E27FC236}">
                <a16:creationId xmlns:a16="http://schemas.microsoft.com/office/drawing/2014/main" id="{B6E79444-B280-4D50-8E67-2F44C2BC704F}"/>
              </a:ext>
            </a:extLst>
          </p:cNvPr>
          <p:cNvSpPr>
            <a:spLocks noGrp="1"/>
          </p:cNvSpPr>
          <p:nvPr/>
        </p:nvSpPr>
        <p:spPr>
          <a:xfrm>
            <a:off x="552450" y="2271716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TARGET</a:t>
            </a:r>
          </a:p>
        </p:txBody>
      </p:sp>
      <p:sp>
        <p:nvSpPr>
          <p:cNvPr id="6" name="business-target">
            <a:extLst>
              <a:ext uri="{FF2B5EF4-FFF2-40B4-BE49-F238E27FC236}">
                <a16:creationId xmlns:a16="http://schemas.microsoft.com/office/drawing/2014/main" id="{D17F5D07-AC42-4A7A-8AC7-FDE06DD9AA2A}"/>
              </a:ext>
            </a:extLst>
          </p:cNvPr>
          <p:cNvSpPr>
            <a:spLocks noGrp="1"/>
          </p:cNvSpPr>
          <p:nvPr/>
        </p:nvSpPr>
        <p:spPr>
          <a:xfrm>
            <a:off x="552450" y="2671766"/>
            <a:ext cx="476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규칙을</a:t>
            </a:r>
            <a:r>
              <a:rPr sz="2925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2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해석하고</a:t>
            </a:r>
            <a:endParaRPr sz="2925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292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925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자원</a:t>
            </a:r>
            <a:r>
              <a:rPr sz="2925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을 </a:t>
            </a:r>
            <a:r>
              <a:rPr sz="292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관리하는</a:t>
            </a:r>
            <a:endParaRPr sz="2925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2925" b="1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2925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1</a:t>
            </a:r>
            <a:r>
              <a:rPr lang="ko-KR" altLang="en-US" sz="2925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인칭</a:t>
            </a:r>
            <a:r>
              <a:rPr sz="2925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2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플레이</a:t>
            </a:r>
            <a:r>
              <a:rPr sz="2925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25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경험</a:t>
            </a:r>
            <a:endParaRPr sz="2925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business-value">
            <a:extLst>
              <a:ext uri="{FF2B5EF4-FFF2-40B4-BE49-F238E27FC236}">
                <a16:creationId xmlns:a16="http://schemas.microsoft.com/office/drawing/2014/main" id="{C843E094-BE66-4E6C-ACB9-F3872A961049}"/>
              </a:ext>
            </a:extLst>
          </p:cNvPr>
          <p:cNvSpPr>
            <a:spLocks noGrp="1"/>
          </p:cNvSpPr>
          <p:nvPr/>
        </p:nvSpPr>
        <p:spPr>
          <a:xfrm>
            <a:off x="552450" y="4595816"/>
            <a:ext cx="5048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박물관</a:t>
            </a:r>
            <a:r>
              <a:rPr sz="157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야간</a:t>
            </a:r>
            <a:r>
              <a:rPr sz="157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근무와</a:t>
            </a:r>
            <a:r>
              <a:rPr sz="157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나폴리탄</a:t>
            </a:r>
            <a:r>
              <a:rPr sz="157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수칙을</a:t>
            </a:r>
            <a:r>
              <a:rPr sz="157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결합해</a:t>
            </a:r>
            <a:endParaRPr sz="1575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57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짧은</a:t>
            </a:r>
            <a:r>
              <a:rPr sz="157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데모에서도</a:t>
            </a:r>
            <a:r>
              <a:rPr sz="157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콘셉트를</a:t>
            </a:r>
            <a:r>
              <a:rPr sz="157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분명하게</a:t>
            </a:r>
            <a:r>
              <a:rPr sz="157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전달할</a:t>
            </a:r>
            <a:r>
              <a:rPr sz="157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575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있다</a:t>
            </a:r>
            <a:r>
              <a:rPr sz="1575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business-row-head-0">
            <a:extLst>
              <a:ext uri="{FF2B5EF4-FFF2-40B4-BE49-F238E27FC236}">
                <a16:creationId xmlns:a16="http://schemas.microsoft.com/office/drawing/2014/main" id="{A0D692B7-30B7-48B7-A5D4-4D5B67494A36}"/>
              </a:ext>
            </a:extLst>
          </p:cNvPr>
          <p:cNvSpPr>
            <a:spLocks noGrp="1"/>
          </p:cNvSpPr>
          <p:nvPr/>
        </p:nvSpPr>
        <p:spPr>
          <a:xfrm>
            <a:off x="6534150" y="2309816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차별 가치</a:t>
            </a:r>
          </a:p>
        </p:txBody>
      </p:sp>
      <p:sp>
        <p:nvSpPr>
          <p:cNvPr id="11" name="business-row-body-0">
            <a:extLst>
              <a:ext uri="{FF2B5EF4-FFF2-40B4-BE49-F238E27FC236}">
                <a16:creationId xmlns:a16="http://schemas.microsoft.com/office/drawing/2014/main" id="{108B19EC-36A1-4D6C-9237-A8BF9F58D464}"/>
              </a:ext>
            </a:extLst>
          </p:cNvPr>
          <p:cNvSpPr>
            <a:spLocks noGrp="1"/>
          </p:cNvSpPr>
          <p:nvPr/>
        </p:nvSpPr>
        <p:spPr>
          <a:xfrm>
            <a:off x="7758113" y="2309816"/>
            <a:ext cx="3767137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규칙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해석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자원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관리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박물관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미스터리의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결합</a:t>
            </a:r>
            <a:endParaRPr sz="1500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business-row-rule-0">
            <a:extLst>
              <a:ext uri="{FF2B5EF4-FFF2-40B4-BE49-F238E27FC236}">
                <a16:creationId xmlns:a16="http://schemas.microsoft.com/office/drawing/2014/main" id="{336E330B-F865-4A08-B08C-8483125DDC5D}"/>
              </a:ext>
            </a:extLst>
          </p:cNvPr>
          <p:cNvSpPr>
            <a:spLocks noGrp="1"/>
          </p:cNvSpPr>
          <p:nvPr/>
        </p:nvSpPr>
        <p:spPr>
          <a:xfrm>
            <a:off x="6534150" y="3128966"/>
            <a:ext cx="49911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business-row-head-1">
            <a:extLst>
              <a:ext uri="{FF2B5EF4-FFF2-40B4-BE49-F238E27FC236}">
                <a16:creationId xmlns:a16="http://schemas.microsoft.com/office/drawing/2014/main" id="{A80AB8E1-1931-4AD0-8AB0-FE9DA0063E5A}"/>
              </a:ext>
            </a:extLst>
          </p:cNvPr>
          <p:cNvSpPr>
            <a:spLocks noGrp="1"/>
          </p:cNvSpPr>
          <p:nvPr/>
        </p:nvSpPr>
        <p:spPr>
          <a:xfrm>
            <a:off x="6534150" y="3433766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확장 방향</a:t>
            </a:r>
          </a:p>
        </p:txBody>
      </p:sp>
      <p:sp>
        <p:nvSpPr>
          <p:cNvPr id="14" name="business-row-body-1">
            <a:extLst>
              <a:ext uri="{FF2B5EF4-FFF2-40B4-BE49-F238E27FC236}">
                <a16:creationId xmlns:a16="http://schemas.microsoft.com/office/drawing/2014/main" id="{731668F7-7C82-42C9-932B-689641D360F0}"/>
              </a:ext>
            </a:extLst>
          </p:cNvPr>
          <p:cNvSpPr>
            <a:spLocks noGrp="1"/>
          </p:cNvSpPr>
          <p:nvPr/>
        </p:nvSpPr>
        <p:spPr>
          <a:xfrm>
            <a:off x="7758113" y="3433766"/>
            <a:ext cx="3767137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규칙·사건·공간을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추가해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콘텐츠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단위로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확장</a:t>
            </a:r>
            <a:endParaRPr sz="1500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business-row-rule-1">
            <a:extLst>
              <a:ext uri="{FF2B5EF4-FFF2-40B4-BE49-F238E27FC236}">
                <a16:creationId xmlns:a16="http://schemas.microsoft.com/office/drawing/2014/main" id="{F18FF373-0D68-4DA8-864D-27C2B55C4E04}"/>
              </a:ext>
            </a:extLst>
          </p:cNvPr>
          <p:cNvSpPr>
            <a:spLocks noGrp="1"/>
          </p:cNvSpPr>
          <p:nvPr/>
        </p:nvSpPr>
        <p:spPr>
          <a:xfrm>
            <a:off x="6534150" y="4252916"/>
            <a:ext cx="49911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business-row-head-2">
            <a:extLst>
              <a:ext uri="{FF2B5EF4-FFF2-40B4-BE49-F238E27FC236}">
                <a16:creationId xmlns:a16="http://schemas.microsoft.com/office/drawing/2014/main" id="{BC57C3EC-665B-498E-99EF-587C53295BBE}"/>
              </a:ext>
            </a:extLst>
          </p:cNvPr>
          <p:cNvSpPr>
            <a:spLocks noGrp="1"/>
          </p:cNvSpPr>
          <p:nvPr/>
        </p:nvSpPr>
        <p:spPr>
          <a:xfrm>
            <a:off x="6534150" y="4557716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 dirty="0" err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배포</a:t>
            </a:r>
            <a:r>
              <a:rPr sz="1500" b="1" i="0" dirty="0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i="0" dirty="0" err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준비</a:t>
            </a:r>
            <a:endParaRPr sz="1500" b="1" i="0" dirty="0">
              <a:solidFill>
                <a:srgbClr val="3D8D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business-row-body-2">
            <a:extLst>
              <a:ext uri="{FF2B5EF4-FFF2-40B4-BE49-F238E27FC236}">
                <a16:creationId xmlns:a16="http://schemas.microsoft.com/office/drawing/2014/main" id="{4F72E382-353F-474A-A6E7-DC55C66A3A48}"/>
              </a:ext>
            </a:extLst>
          </p:cNvPr>
          <p:cNvSpPr>
            <a:spLocks noGrp="1"/>
          </p:cNvSpPr>
          <p:nvPr/>
        </p:nvSpPr>
        <p:spPr>
          <a:xfrm>
            <a:off x="7758113" y="4557716"/>
            <a:ext cx="3767137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데모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패키징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외부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테스트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스토어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공개</a:t>
            </a:r>
            <a:r>
              <a:rPr sz="15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준비</a:t>
            </a:r>
            <a:endParaRPr sz="1500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page-5">
            <a:extLst>
              <a:ext uri="{FF2B5EF4-FFF2-40B4-BE49-F238E27FC236}">
                <a16:creationId xmlns:a16="http://schemas.microsoft.com/office/drawing/2014/main" id="{03893DD9-E268-FA7D-03C0-7ACE97B14FCA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sz="1050" dirty="0">
                <a:solidFill>
                  <a:srgbClr val="5E6470"/>
                </a:solidFill>
                <a:latin typeface="Noto Sans KR"/>
                <a:ea typeface="Noto Sans KR"/>
                <a:cs typeface="Noto Sans KR"/>
              </a:rPr>
              <a:t>7</a:t>
            </a:r>
            <a:endParaRPr sz="1050" b="0" i="0" dirty="0">
              <a:solidFill>
                <a:srgbClr val="5E6470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121331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2C80D-3C3E-2512-2C4A-E3E3558D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E44E2641-5A5E-8840-C73F-70551DE791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3" name="cover-course">
            <a:extLst>
              <a:ext uri="{FF2B5EF4-FFF2-40B4-BE49-F238E27FC236}">
                <a16:creationId xmlns:a16="http://schemas.microsoft.com/office/drawing/2014/main" id="{452FAB1E-BD9D-9055-5153-B3A662124309}"/>
              </a:ext>
            </a:extLst>
          </p:cNvPr>
          <p:cNvSpPr>
            <a:spLocks noGrp="1"/>
          </p:cNvSpPr>
          <p:nvPr/>
        </p:nvSpPr>
        <p:spPr>
          <a:xfrm>
            <a:off x="479489" y="323850"/>
            <a:ext cx="561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2026 AI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에이전트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언리얼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개발</a:t>
            </a:r>
            <a:endParaRPr sz="1350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350" b="1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워크프로세스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자동화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완성</a:t>
            </a:r>
            <a:r>
              <a:rPr sz="1350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과정</a:t>
            </a:r>
            <a:endParaRPr sz="1350" b="1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246382D8-55B9-F1BB-F566-E19DD7FACA80}"/>
              </a:ext>
            </a:extLst>
          </p:cNvPr>
          <p:cNvSpPr>
            <a:spLocks noGrp="1"/>
          </p:cNvSpPr>
          <p:nvPr/>
        </p:nvSpPr>
        <p:spPr>
          <a:xfrm>
            <a:off x="3972719" y="2903963"/>
            <a:ext cx="6375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 i="0">
                <a:solidFill>
                  <a:srgbClr val="5E64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800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감사합니다</a:t>
            </a:r>
            <a:endParaRPr sz="8000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cover-team">
            <a:extLst>
              <a:ext uri="{FF2B5EF4-FFF2-40B4-BE49-F238E27FC236}">
                <a16:creationId xmlns:a16="http://schemas.microsoft.com/office/drawing/2014/main" id="{A6C12B12-FE3E-0C44-B06B-4717C2A4AB4A}"/>
              </a:ext>
            </a:extLst>
          </p:cNvPr>
          <p:cNvSpPr>
            <a:spLocks noGrp="1"/>
          </p:cNvSpPr>
          <p:nvPr/>
        </p:nvSpPr>
        <p:spPr>
          <a:xfrm>
            <a:off x="8980320" y="6531825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350" b="0" i="0">
                <a:solidFill>
                  <a:srgbClr val="111318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35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박살팀</a:t>
            </a:r>
            <a:r>
              <a:rPr lang="ko-KR" altLang="en-US" sz="135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35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135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임</a:t>
            </a: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찬진</a:t>
            </a:r>
            <a:r>
              <a:rPr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김정준</a:t>
            </a:r>
            <a:r>
              <a:rPr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변설화</a:t>
            </a:r>
            <a:r>
              <a:rPr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35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박지수</a:t>
            </a:r>
            <a:r>
              <a:rPr lang="en-US" sz="1350" b="0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</a:rPr>
              <a:t>)</a:t>
            </a:r>
            <a:endParaRPr sz="1350" b="0" i="0" dirty="0">
              <a:solidFill>
                <a:schemeClr val="accent6">
                  <a:lumMod val="20000"/>
                  <a:lumOff val="80000"/>
                </a:schemeClr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7361652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766</Words>
  <Application>Microsoft Office PowerPoint</Application>
  <DocSecurity>0</DocSecurity>
  <PresentationFormat>와이드스크린</PresentationFormat>
  <Paragraphs>130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임찬진(2021180035)</cp:lastModifiedBy>
  <cp:revision>29</cp:revision>
  <dcterms:created xsi:type="dcterms:W3CDTF">2026-08-27T05:08:11Z</dcterms:created>
  <dcterms:modified xsi:type="dcterms:W3CDTF">2026-08-27T16:12:01Z</dcterms:modified>
</cp:coreProperties>
</file>